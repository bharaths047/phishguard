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74" r:id="rId5"/>
    <p:sldId id="263" r:id="rId6"/>
    <p:sldId id="264" r:id="rId7"/>
    <p:sldId id="265" r:id="rId8"/>
    <p:sldId id="266" r:id="rId9"/>
    <p:sldId id="267" r:id="rId10"/>
    <p:sldId id="278" r:id="rId11"/>
    <p:sldId id="276" r:id="rId12"/>
    <p:sldId id="277" r:id="rId13"/>
    <p:sldId id="272" r:id="rId14"/>
    <p:sldId id="273" r:id="rId15"/>
    <p:sldId id="271" r:id="rId16"/>
    <p:sldId id="269" r:id="rId17"/>
    <p:sldId id="270" r:id="rId18"/>
    <p:sldId id="25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10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FBD0F-0B60-BFD1-7B63-7C7156E7E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A9978E-5D35-8C41-839B-F7402A847C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672D96-FD57-35F0-7E2C-F895C826C182}"/>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CC030207-6A3F-C1EA-D088-C16ACD46A2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859B5B-0E28-F2AE-F3C7-FC3FBBFC16E3}"/>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996620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D6D8-1458-D1A6-106C-B6D7707CB2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D9B699-021E-4010-2351-E0B66768F5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1C94C5-E213-245A-F4EE-128CCA93BBE2}"/>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A5A24250-1538-6A5D-F955-90AFFE5B9F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5365F6-7167-296B-1DB4-57BF3DD7C829}"/>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675110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18A5-C3AC-875A-5637-872EC19684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5C0FBE-A563-E437-1870-F54D1CF262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2CE15A-D17E-71E5-3225-1E271AA38D0D}"/>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A09C6059-20A8-CBA1-82B1-71C84DB6CB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3D577C-38E9-27AE-CF3E-4CDCADE2E1D8}"/>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2614464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257B7-DC31-CB4C-EC1C-A67DA7462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63645F-9BC0-4F16-F723-681284635C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436977-832C-357C-591C-837E016C9C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821FA-B3D9-DA99-93BC-91786742F5F6}"/>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6" name="Footer Placeholder 5">
            <a:extLst>
              <a:ext uri="{FF2B5EF4-FFF2-40B4-BE49-F238E27FC236}">
                <a16:creationId xmlns:a16="http://schemas.microsoft.com/office/drawing/2014/main" id="{FAB455E0-B7E7-03F1-6F84-E8D98942F1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4084CE-A475-5AB2-104C-9AD314EF1DB7}"/>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155895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F00C0-02B6-D44C-5258-545DB73919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A62DFD-415E-469A-C681-417F831030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84CF71-A212-36BC-9216-833F823AFA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0A06E1-3BB3-744D-7D97-7602BB84AC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6FDFA3-35A6-4E2F-D41E-EAC2B7E383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6BC1EE-60DF-85EF-DAE6-CE25BCCF195E}"/>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8" name="Footer Placeholder 7">
            <a:extLst>
              <a:ext uri="{FF2B5EF4-FFF2-40B4-BE49-F238E27FC236}">
                <a16:creationId xmlns:a16="http://schemas.microsoft.com/office/drawing/2014/main" id="{5345980C-5865-91B7-DD80-854B71161D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8D7073-BA5A-5A18-BE0A-4DEE661721F7}"/>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1330613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4B28-5471-30FC-B925-13A4E113496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CE7E74-FCC8-E586-CC1C-8E541B3879A4}"/>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4" name="Footer Placeholder 3">
            <a:extLst>
              <a:ext uri="{FF2B5EF4-FFF2-40B4-BE49-F238E27FC236}">
                <a16:creationId xmlns:a16="http://schemas.microsoft.com/office/drawing/2014/main" id="{18A631B8-11C9-D6B0-CC6D-DFDF824D10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3BBC29-30B0-160E-071F-E5F8AC12B70A}"/>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220484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46B05-74ED-5327-A05A-F1BDE00323A8}"/>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3" name="Footer Placeholder 2">
            <a:extLst>
              <a:ext uri="{FF2B5EF4-FFF2-40B4-BE49-F238E27FC236}">
                <a16:creationId xmlns:a16="http://schemas.microsoft.com/office/drawing/2014/main" id="{DB3644AE-0C1F-AE53-8C28-DC610B76C8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AF35B7-7DF6-E078-5113-89BC09A96DE5}"/>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2969031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96F9-4146-5AF7-B4EF-67D03C55D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FF6BA9-8145-BBF7-850D-17A5AB5380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978808-5798-51DC-60AA-09E391C33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E2F718-A93E-838B-97D6-8205ACA45334}"/>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6" name="Footer Placeholder 5">
            <a:extLst>
              <a:ext uri="{FF2B5EF4-FFF2-40B4-BE49-F238E27FC236}">
                <a16:creationId xmlns:a16="http://schemas.microsoft.com/office/drawing/2014/main" id="{5D07A86F-93B6-892E-34C7-4E380EEE41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EEE79B-87B3-71FC-335D-1ADFEFF2D974}"/>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3010122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47AC1-D4B4-92AE-5643-277EC2F7BC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49036E-0279-AE9E-EF1A-41C166A27C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BDE8D8-A2EB-5503-5F6B-7FAE8436E3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722E78-EC5F-8567-EDAC-1CABEB05AB2E}"/>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6" name="Footer Placeholder 5">
            <a:extLst>
              <a:ext uri="{FF2B5EF4-FFF2-40B4-BE49-F238E27FC236}">
                <a16:creationId xmlns:a16="http://schemas.microsoft.com/office/drawing/2014/main" id="{4107A92A-E2DF-054C-3F0E-DCE03AD680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30D388-3828-5910-B0DB-9645550AF061}"/>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358243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F8533-08E3-962E-811C-2F52AEA827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3BB516-32D4-FE40-7089-C6651E463A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910A70-63BC-840A-080E-E46235E0B261}"/>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4CF52E83-C2C5-37FB-7028-885B617DB7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293790-7837-B847-D006-E999E178B4C8}"/>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1985654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7F81F5-09BB-1E29-BB70-C647CBA1F0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12EF0A-AFB7-E9B9-1C0F-79B8B5A4C7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299F60-184D-7EC4-5C41-09D5C6E7094E}"/>
              </a:ext>
            </a:extLst>
          </p:cNvPr>
          <p:cNvSpPr>
            <a:spLocks noGrp="1"/>
          </p:cNvSpPr>
          <p:nvPr>
            <p:ph type="dt" sz="half" idx="10"/>
          </p:nvPr>
        </p:nvSpPr>
        <p:spPr/>
        <p:txBody>
          <a:body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BDB4AD94-8FBF-A9D9-8035-9371888D3E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21184-72A2-264D-03D4-EF3B996D758E}"/>
              </a:ext>
            </a:extLst>
          </p:cNvPr>
          <p:cNvSpPr>
            <a:spLocks noGrp="1"/>
          </p:cNvSpPr>
          <p:nvPr>
            <p:ph type="sldNum" sz="quarter" idx="12"/>
          </p:nvPr>
        </p:nvSpPr>
        <p:spPr/>
        <p:txBody>
          <a:bodyPr/>
          <a:lstStyle/>
          <a:p>
            <a:fld id="{5639E896-D533-4586-A8D3-88A27B902304}" type="slidenum">
              <a:rPr lang="en-IN" smtClean="0"/>
              <a:t>‹#›</a:t>
            </a:fld>
            <a:endParaRPr lang="en-IN"/>
          </a:p>
        </p:txBody>
      </p:sp>
    </p:spTree>
    <p:extLst>
      <p:ext uri="{BB962C8B-B14F-4D97-AF65-F5344CB8AC3E}">
        <p14:creationId xmlns:p14="http://schemas.microsoft.com/office/powerpoint/2010/main" val="3946227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291486-752F-C243-F359-6BAA0A774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67B709-3077-53EC-1FB3-C48906C9C3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7AB8A-8AD8-1184-AFD8-A680F117D4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8E8FC6-BF99-4562-9E6B-94FA3B1BB19E}" type="datetimeFigureOut">
              <a:rPr lang="en-IN" smtClean="0"/>
              <a:t>09-03-2026</a:t>
            </a:fld>
            <a:endParaRPr lang="en-IN"/>
          </a:p>
        </p:txBody>
      </p:sp>
      <p:sp>
        <p:nvSpPr>
          <p:cNvPr id="5" name="Footer Placeholder 4">
            <a:extLst>
              <a:ext uri="{FF2B5EF4-FFF2-40B4-BE49-F238E27FC236}">
                <a16:creationId xmlns:a16="http://schemas.microsoft.com/office/drawing/2014/main" id="{6049EBDD-7F42-FD76-03B0-87BC9B3C2E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BE06E1-DE83-1B45-9876-1C22D3A027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39E896-D533-4586-A8D3-88A27B902304}" type="slidenum">
              <a:rPr lang="en-IN" smtClean="0"/>
              <a:t>‹#›</a:t>
            </a:fld>
            <a:endParaRPr lang="en-IN"/>
          </a:p>
        </p:txBody>
      </p:sp>
    </p:spTree>
    <p:extLst>
      <p:ext uri="{BB962C8B-B14F-4D97-AF65-F5344CB8AC3E}">
        <p14:creationId xmlns:p14="http://schemas.microsoft.com/office/powerpoint/2010/main" val="3610696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A844E-48CD-0EF3-638A-A09A8A5EF0E9}"/>
              </a:ext>
            </a:extLst>
          </p:cNvPr>
          <p:cNvSpPr>
            <a:spLocks noGrp="1"/>
          </p:cNvSpPr>
          <p:nvPr>
            <p:ph type="ctrTitle"/>
          </p:nvPr>
        </p:nvSpPr>
        <p:spPr>
          <a:xfrm>
            <a:off x="1524000" y="1058780"/>
            <a:ext cx="9144000" cy="1828799"/>
          </a:xfrm>
        </p:spPr>
        <p:txBody>
          <a:bodyPr/>
          <a:lstStyle/>
          <a:p>
            <a:r>
              <a:rPr lang="en-IN" dirty="0"/>
              <a:t>Phish Guard : Intelligent Phishing System</a:t>
            </a:r>
          </a:p>
        </p:txBody>
      </p:sp>
      <p:sp>
        <p:nvSpPr>
          <p:cNvPr id="3" name="TextBox 2">
            <a:extLst>
              <a:ext uri="{FF2B5EF4-FFF2-40B4-BE49-F238E27FC236}">
                <a16:creationId xmlns:a16="http://schemas.microsoft.com/office/drawing/2014/main" id="{F9BDF705-7729-D9FE-A62E-2B4B2FC60485}"/>
              </a:ext>
            </a:extLst>
          </p:cNvPr>
          <p:cNvSpPr txBox="1"/>
          <p:nvPr/>
        </p:nvSpPr>
        <p:spPr>
          <a:xfrm>
            <a:off x="558800" y="4013200"/>
            <a:ext cx="3383280" cy="1200329"/>
          </a:xfrm>
          <a:prstGeom prst="rect">
            <a:avLst/>
          </a:prstGeom>
          <a:noFill/>
        </p:spPr>
        <p:txBody>
          <a:bodyPr wrap="square" rtlCol="0">
            <a:spAutoFit/>
          </a:bodyPr>
          <a:lstStyle/>
          <a:p>
            <a:r>
              <a:rPr lang="en-IN" dirty="0"/>
              <a:t>Team Members:</a:t>
            </a:r>
          </a:p>
          <a:p>
            <a:r>
              <a:rPr lang="en-IN"/>
              <a:t>Bhoomika</a:t>
            </a:r>
            <a:endParaRPr lang="en-IN" dirty="0"/>
          </a:p>
          <a:p>
            <a:r>
              <a:rPr lang="en-IN" dirty="0"/>
              <a:t>Poornima</a:t>
            </a:r>
          </a:p>
          <a:p>
            <a:r>
              <a:rPr lang="en-IN" dirty="0" err="1"/>
              <a:t>Suneha</a:t>
            </a:r>
            <a:r>
              <a:rPr lang="en-IN" dirty="0"/>
              <a:t> </a:t>
            </a:r>
            <a:r>
              <a:rPr lang="en-IN" dirty="0" err="1"/>
              <a:t>Upadya</a:t>
            </a:r>
            <a:endParaRPr lang="en-IN" dirty="0"/>
          </a:p>
        </p:txBody>
      </p:sp>
    </p:spTree>
    <p:extLst>
      <p:ext uri="{BB962C8B-B14F-4D97-AF65-F5344CB8AC3E}">
        <p14:creationId xmlns:p14="http://schemas.microsoft.com/office/powerpoint/2010/main" val="3524776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6725-6FA6-AEAD-9191-2A7D964F6A55}"/>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88372B64-A33E-D009-CABA-59A431791533}"/>
              </a:ext>
            </a:extLst>
          </p:cNvPr>
          <p:cNvSpPr>
            <a:spLocks noGrp="1"/>
          </p:cNvSpPr>
          <p:nvPr>
            <p:ph idx="1"/>
          </p:nvPr>
        </p:nvSpPr>
        <p:spPr/>
        <p:txBody>
          <a:bodyPr>
            <a:normAutofit/>
          </a:bodyPr>
          <a:lstStyle/>
          <a:p>
            <a:r>
              <a:rPr lang="en-IN" dirty="0"/>
              <a:t>Abstract</a:t>
            </a:r>
          </a:p>
          <a:p>
            <a:r>
              <a:rPr lang="en-IN" dirty="0"/>
              <a:t>Introduction</a:t>
            </a:r>
          </a:p>
          <a:p>
            <a:r>
              <a:rPr lang="en-IN" dirty="0"/>
              <a:t>Literature Survey</a:t>
            </a:r>
          </a:p>
          <a:p>
            <a:r>
              <a:rPr lang="en-IN" dirty="0"/>
              <a:t>Existing System</a:t>
            </a:r>
          </a:p>
          <a:p>
            <a:r>
              <a:rPr lang="en-IN" dirty="0"/>
              <a:t>Proposed System</a:t>
            </a:r>
          </a:p>
          <a:p>
            <a:r>
              <a:rPr lang="en-IN" dirty="0"/>
              <a:t>System Requirement</a:t>
            </a:r>
          </a:p>
          <a:p>
            <a:r>
              <a:rPr lang="en-IN" dirty="0"/>
              <a:t>References</a:t>
            </a:r>
          </a:p>
        </p:txBody>
      </p:sp>
    </p:spTree>
    <p:extLst>
      <p:ext uri="{BB962C8B-B14F-4D97-AF65-F5344CB8AC3E}">
        <p14:creationId xmlns:p14="http://schemas.microsoft.com/office/powerpoint/2010/main" val="15456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D9D9-5615-632A-EED1-18ED8148350E}"/>
              </a:ext>
            </a:extLst>
          </p:cNvPr>
          <p:cNvSpPr>
            <a:spLocks noGrp="1"/>
          </p:cNvSpPr>
          <p:nvPr>
            <p:ph type="title"/>
          </p:nvPr>
        </p:nvSpPr>
        <p:spPr>
          <a:xfrm>
            <a:off x="838200" y="365125"/>
            <a:ext cx="10515600" cy="941161"/>
          </a:xfrm>
        </p:spPr>
        <p:txBody>
          <a:bodyPr/>
          <a:lstStyle/>
          <a:p>
            <a:r>
              <a:rPr lang="en-IN" dirty="0"/>
              <a:t>                        Abstract</a:t>
            </a:r>
          </a:p>
        </p:txBody>
      </p:sp>
      <p:sp>
        <p:nvSpPr>
          <p:cNvPr id="3" name="Content Placeholder 2">
            <a:extLst>
              <a:ext uri="{FF2B5EF4-FFF2-40B4-BE49-F238E27FC236}">
                <a16:creationId xmlns:a16="http://schemas.microsoft.com/office/drawing/2014/main" id="{343487BD-40DD-ED7B-0E1B-ECB337E84A11}"/>
              </a:ext>
            </a:extLst>
          </p:cNvPr>
          <p:cNvSpPr>
            <a:spLocks noGrp="1"/>
          </p:cNvSpPr>
          <p:nvPr>
            <p:ph idx="1"/>
          </p:nvPr>
        </p:nvSpPr>
        <p:spPr>
          <a:xfrm>
            <a:off x="570271" y="1543665"/>
            <a:ext cx="10783529" cy="4633298"/>
          </a:xfrm>
        </p:spPr>
        <p:txBody>
          <a:bodyPr>
            <a:normAutofit lnSpcReduction="10000"/>
          </a:bodyPr>
          <a:lstStyle/>
          <a:p>
            <a:pPr marL="0" indent="0">
              <a:buNone/>
            </a:pPr>
            <a:r>
              <a:rPr lang="en-IN" sz="2400" dirty="0"/>
              <a:t>Phishing attacks have rapidly increased with the growth of online services, making them one of the most common cybersecurity threats today. With millions of malicious URLs created daily, manual identification has become nearly impossible, and users often struggle to differentiate between legitimate and fake websites-leading to data theft, financial loss, and malware infections. To address this challenge, the project aims to build an automated, intelligent, and real-time phishing detection system that accurately classifies URLs as phishing or legitimate. The proposed solution, </a:t>
            </a:r>
            <a:r>
              <a:rPr lang="en-IN" sz="2400" dirty="0" err="1"/>
              <a:t>PhishGuard</a:t>
            </a:r>
            <a:r>
              <a:rPr lang="en-IN" sz="2400" dirty="0"/>
              <a:t>, uses a structured machine-learning pipeline involving URL feature extraction, preprocessing, hashing, and classification using models such as </a:t>
            </a:r>
            <a:r>
              <a:rPr lang="en-IN" sz="2400" dirty="0" err="1"/>
              <a:t>XGBoost</a:t>
            </a:r>
            <a:r>
              <a:rPr lang="en-IN" sz="2400" dirty="0"/>
              <a:t>, </a:t>
            </a:r>
            <a:r>
              <a:rPr lang="en-IN" sz="2400" dirty="0" err="1"/>
              <a:t>LightGBM</a:t>
            </a:r>
            <a:r>
              <a:rPr lang="en-IN" sz="2400" dirty="0"/>
              <a:t>, and Logistic Regression. It further integrates external threat-intelligence APIs like Google Safe Browsing, urlscan.io, and Phish Tank to enhance detection capabilities, especially for zero-day phishing URLs. Unlike traditional blacklist-based methods, this system relies on lexical and </a:t>
            </a:r>
            <a:r>
              <a:rPr lang="en-IN" sz="2400" dirty="0" err="1"/>
              <a:t>behavioral</a:t>
            </a:r>
            <a:r>
              <a:rPr lang="en-IN" sz="2400" dirty="0"/>
              <a:t> URL features to improve accuracy.</a:t>
            </a:r>
          </a:p>
          <a:p>
            <a:pPr marL="0" indent="0">
              <a:buNone/>
            </a:pPr>
            <a:endParaRPr lang="en-IN" sz="2000" dirty="0"/>
          </a:p>
          <a:p>
            <a:pPr marL="0" indent="0">
              <a:buNone/>
            </a:pPr>
            <a:endParaRPr lang="en-IN" sz="2000" dirty="0"/>
          </a:p>
          <a:p>
            <a:endParaRPr lang="en-IN" sz="2000" dirty="0"/>
          </a:p>
        </p:txBody>
      </p:sp>
    </p:spTree>
    <p:extLst>
      <p:ext uri="{BB962C8B-B14F-4D97-AF65-F5344CB8AC3E}">
        <p14:creationId xmlns:p14="http://schemas.microsoft.com/office/powerpoint/2010/main" val="157764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3B7428-66AF-7328-D628-316114463C42}"/>
              </a:ext>
            </a:extLst>
          </p:cNvPr>
          <p:cNvSpPr txBox="1"/>
          <p:nvPr/>
        </p:nvSpPr>
        <p:spPr>
          <a:xfrm>
            <a:off x="424873" y="766618"/>
            <a:ext cx="11305309" cy="5201424"/>
          </a:xfrm>
          <a:prstGeom prst="rect">
            <a:avLst/>
          </a:prstGeom>
          <a:noFill/>
        </p:spPr>
        <p:txBody>
          <a:bodyPr wrap="square" rtlCol="0">
            <a:spAutoFit/>
          </a:bodyPr>
          <a:lstStyle/>
          <a:p>
            <a:r>
              <a:rPr lang="en-IN" sz="2000" dirty="0"/>
              <a:t>The architecture includes a browser extension for real-time URL capture, a backend API for processing and prediction, an ML module for classification, and datastore components for managing whitelists and blacklists. Supported by UML diagrams, DFDs, and flow charts, the design clearly illustrates how each subsystem works within the detection pipeline. The expected outcome is a scalable, real-time phishing detection framework that minimizes false positives, increases user safety, and can be extended to enterprise-level web security applications, thereby strengthening overall cybersecurity awareness.</a:t>
            </a:r>
          </a:p>
          <a:p>
            <a:endParaRPr lang="en-IN" sz="2000" dirty="0"/>
          </a:p>
          <a:p>
            <a:r>
              <a:rPr lang="en-IN" sz="2000" dirty="0"/>
              <a:t>The architecture includes a browser extension for real-time URL capture, a backend API for processing and prediction, an ML module for classification, and datastore components for managing whitelists and blacklists. Supported by UML diagrams, DFDs, and flow charts, the design clearly illustrates how each subsystem works within the detection pipeline. The expected outcome is a scalable, real-time phishing detection framework that minimizes false positives, increases user safety, and can be extended to enterprise-level web security applications, thereby strengthening overall cybersecurity awareness.</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725459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3B51-479C-9243-61A9-EE64762B4882}"/>
              </a:ext>
            </a:extLst>
          </p:cNvPr>
          <p:cNvSpPr>
            <a:spLocks noGrp="1"/>
          </p:cNvSpPr>
          <p:nvPr>
            <p:ph type="title"/>
          </p:nvPr>
        </p:nvSpPr>
        <p:spPr>
          <a:xfrm>
            <a:off x="838200" y="365125"/>
            <a:ext cx="10515600" cy="1325563"/>
          </a:xfrm>
        </p:spPr>
        <p:txBody>
          <a:bodyPr/>
          <a:lstStyle/>
          <a:p>
            <a:pPr algn="ctr"/>
            <a:r>
              <a:rPr lang="en-IN" dirty="0"/>
              <a:t>INTRODUCTION</a:t>
            </a:r>
          </a:p>
        </p:txBody>
      </p:sp>
      <p:sp>
        <p:nvSpPr>
          <p:cNvPr id="3" name="Content Placeholder 2">
            <a:extLst>
              <a:ext uri="{FF2B5EF4-FFF2-40B4-BE49-F238E27FC236}">
                <a16:creationId xmlns:a16="http://schemas.microsoft.com/office/drawing/2014/main" id="{478FCE0F-4188-1E2A-8A7C-27EB8B9AB1E8}"/>
              </a:ext>
            </a:extLst>
          </p:cNvPr>
          <p:cNvSpPr>
            <a:spLocks noGrp="1"/>
          </p:cNvSpPr>
          <p:nvPr>
            <p:ph idx="1"/>
          </p:nvPr>
        </p:nvSpPr>
        <p:spPr>
          <a:xfrm>
            <a:off x="838200" y="1553497"/>
            <a:ext cx="10515600" cy="4623466"/>
          </a:xfrm>
        </p:spPr>
        <p:txBody>
          <a:bodyPr>
            <a:normAutofit fontScale="92500" lnSpcReduction="10000"/>
          </a:bodyPr>
          <a:lstStyle/>
          <a:p>
            <a:r>
              <a:rPr lang="en-IN" sz="2600" dirty="0"/>
              <a:t>In today’s digital world, the internet is widely used for communication, banking, education, and business. However, the growth of online services has also increased cybersecurity threats, especially phishing attacks. Phishing is a cyberattack where attackers trick users into revealing sensitive information like usernames, passwords, and banking details by pretending to be trusted websites. </a:t>
            </a:r>
          </a:p>
          <a:p>
            <a:r>
              <a:rPr lang="en-IN" sz="2600" dirty="0"/>
              <a:t>Traditional security methods often fail to detect new phishing websites because attackers frequently create new fake URLs. To address this problem, </a:t>
            </a:r>
            <a:r>
              <a:rPr lang="en-IN" sz="2600" dirty="0" err="1"/>
              <a:t>PhishGuard</a:t>
            </a:r>
            <a:r>
              <a:rPr lang="en-IN" sz="2600" dirty="0"/>
              <a:t>: Intelligent Phishing Detection System uses machine learning techniques to </a:t>
            </a:r>
            <a:r>
              <a:rPr lang="en-IN" sz="2600" dirty="0" err="1"/>
              <a:t>analyze</a:t>
            </a:r>
            <a:r>
              <a:rPr lang="en-IN" sz="2600" dirty="0"/>
              <a:t> website URLs and detect suspicious patterns. </a:t>
            </a:r>
          </a:p>
          <a:p>
            <a:r>
              <a:rPr lang="en-IN" sz="2600" dirty="0"/>
              <a:t>The system examines features such as URL length, special characters, and domain structure to determine whether a website is legitimate or phishing. By identifying dangerous websites in real time, </a:t>
            </a:r>
            <a:r>
              <a:rPr lang="en-IN" sz="2600" dirty="0" err="1"/>
              <a:t>PhishGuard</a:t>
            </a:r>
            <a:r>
              <a:rPr lang="en-IN" sz="2600" dirty="0"/>
              <a:t> helps protect users’ personal information and improves overall cybersecurity.</a:t>
            </a:r>
          </a:p>
          <a:p>
            <a:endParaRPr lang="en-IN" dirty="0"/>
          </a:p>
        </p:txBody>
      </p:sp>
    </p:spTree>
    <p:extLst>
      <p:ext uri="{BB962C8B-B14F-4D97-AF65-F5344CB8AC3E}">
        <p14:creationId xmlns:p14="http://schemas.microsoft.com/office/powerpoint/2010/main" val="3697188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09FE3-5F9B-5231-FFCF-D47E4CDC181D}"/>
              </a:ext>
            </a:extLst>
          </p:cNvPr>
          <p:cNvSpPr>
            <a:spLocks noGrp="1"/>
          </p:cNvSpPr>
          <p:nvPr>
            <p:ph type="title"/>
          </p:nvPr>
        </p:nvSpPr>
        <p:spPr>
          <a:xfrm>
            <a:off x="838200" y="365126"/>
            <a:ext cx="10515600" cy="875846"/>
          </a:xfrm>
        </p:spPr>
        <p:txBody>
          <a:bodyPr/>
          <a:lstStyle/>
          <a:p>
            <a:pPr algn="ctr"/>
            <a:r>
              <a:rPr lang="en-IN" dirty="0"/>
              <a:t>LITERATURE SURVEY</a:t>
            </a:r>
          </a:p>
        </p:txBody>
      </p:sp>
      <p:sp>
        <p:nvSpPr>
          <p:cNvPr id="3" name="Content Placeholder 2">
            <a:extLst>
              <a:ext uri="{FF2B5EF4-FFF2-40B4-BE49-F238E27FC236}">
                <a16:creationId xmlns:a16="http://schemas.microsoft.com/office/drawing/2014/main" id="{7E22CB6A-978B-6EBA-3F6C-3EC715F66BD2}"/>
              </a:ext>
            </a:extLst>
          </p:cNvPr>
          <p:cNvSpPr>
            <a:spLocks noGrp="1"/>
          </p:cNvSpPr>
          <p:nvPr>
            <p:ph idx="1"/>
          </p:nvPr>
        </p:nvSpPr>
        <p:spPr>
          <a:xfrm>
            <a:off x="838200" y="1240972"/>
            <a:ext cx="10515600" cy="4935991"/>
          </a:xfrm>
        </p:spPr>
        <p:txBody>
          <a:bodyPr>
            <a:normAutofit lnSpcReduction="10000"/>
          </a:bodyPr>
          <a:lstStyle/>
          <a:p>
            <a:r>
              <a:rPr lang="en-US" sz="1800" dirty="0"/>
              <a:t>[1] Ma et al., 2009 – This paper introduced machine learning techniques for detecting malicious websites using lexical and host-based URL features. The authors extracted attributes such as URL length, number of dots, token frequency, and domain registration age. Logistic Regression and Support Vector Machines were used for classification. Experimental results showed that ML-based models significantly outperformed blacklist-based approaches. The study demonstrated scalability for large-scale web traffic environments. It emphasized automated feature extraction and real-time applicability. This research laid the groundwork for modern phishing URL classification systems.</a:t>
            </a:r>
          </a:p>
          <a:p>
            <a:r>
              <a:rPr lang="en-US" sz="1800" dirty="0"/>
              <a:t>Zhang et al., 2011 – The CANTINA+ framework combined lexical, content, and behavioral features for phishing website detection. The system analyzed HTML structure, domain information, search engine ranking, and URL patterns. Machine learning classifiers improved detection accuracy while minimizing false positives. The approach reduced dependence on static blacklists. Experimental results showed strong precision and recall values. The framework supported real-time browser integration. It became a reference architecture for feature-rich phishing detection systems.</a:t>
            </a:r>
          </a:p>
          <a:p>
            <a:pPr marL="285750" indent="-285750"/>
            <a:r>
              <a:rPr lang="en-US" sz="1800" dirty="0" err="1"/>
              <a:t>Sahingoz</a:t>
            </a:r>
            <a:r>
              <a:rPr lang="en-US" sz="1800" dirty="0"/>
              <a:t> et al., 2019 – This study evaluated multiple machine learning algorithms including Random Forest, SVM, and </a:t>
            </a:r>
            <a:r>
              <a:rPr lang="en-US" sz="1800" dirty="0" err="1"/>
              <a:t>XGBoost</a:t>
            </a:r>
            <a:r>
              <a:rPr lang="en-US" sz="1800" dirty="0"/>
              <a:t> for phishing URL detection. Lexical feature extraction was the primary focus. Ensemble learning methods achieved higher accuracy than single classifiers. </a:t>
            </a:r>
            <a:r>
              <a:rPr lang="en-US" sz="1800" dirty="0" err="1"/>
              <a:t>XGBoost</a:t>
            </a:r>
            <a:r>
              <a:rPr lang="en-US" sz="1800" dirty="0"/>
              <a:t> demonstrated superior performance with reduced error rates. The research validated the importance of boosting algorithms in cybersecurity. Comparative metrics were provided for precision, recall, and F1-score. The findings strongly support ensemble-based models like </a:t>
            </a:r>
            <a:r>
              <a:rPr lang="en-US" sz="1800" dirty="0" err="1"/>
              <a:t>PhishGuard</a:t>
            </a:r>
            <a:r>
              <a:rPr lang="en-US" sz="1800" dirty="0"/>
              <a:t>.</a:t>
            </a:r>
          </a:p>
          <a:p>
            <a:endParaRPr lang="en-US" sz="1800" dirty="0"/>
          </a:p>
          <a:p>
            <a:endParaRPr lang="en-IN" sz="1800" dirty="0"/>
          </a:p>
        </p:txBody>
      </p:sp>
    </p:spTree>
    <p:extLst>
      <p:ext uri="{BB962C8B-B14F-4D97-AF65-F5344CB8AC3E}">
        <p14:creationId xmlns:p14="http://schemas.microsoft.com/office/powerpoint/2010/main" val="409899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7480F-2F8B-FADB-416C-B65C82BA231D}"/>
              </a:ext>
            </a:extLst>
          </p:cNvPr>
          <p:cNvSpPr txBox="1"/>
          <p:nvPr/>
        </p:nvSpPr>
        <p:spPr>
          <a:xfrm>
            <a:off x="363894" y="513184"/>
            <a:ext cx="11541967" cy="5663089"/>
          </a:xfrm>
          <a:prstGeom prst="rect">
            <a:avLst/>
          </a:prstGeom>
          <a:noFill/>
        </p:spPr>
        <p:txBody>
          <a:bodyPr wrap="square" rtlCol="0">
            <a:spAutoFit/>
          </a:bodyPr>
          <a:lstStyle/>
          <a:p>
            <a:pPr marL="285750" indent="-285750">
              <a:buFont typeface="Arial" panose="020B0604020202020204" pitchFamily="34" charset="0"/>
              <a:buChar char="•"/>
            </a:pPr>
            <a:r>
              <a:rPr lang="en-US" sz="1600" dirty="0"/>
              <a:t>Verma &amp; Das, 2017 – The authors proposed fast feature extraction methods for malicious URL detection. Both lexical and structural attributes of URLs were considered. Random Forest and Logistic Regression were applied for classification. The model achieved improved zero-day phishing detection capability. False positive rates were reduced through optimized feature selection. The system demonstrated computational efficiency suitable for browser environments. This study supports structured ML pipelines in phishing detection frameworks.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Rao &amp; Pais, 2019 – This research focused exclusively on lexical URL features for phishing detection. Statistical analysis of phishing domain patterns was performed. Machine learning classifiers were trained using structural URL properties. The approach eliminated the need for webpage content parsing. It provided lightweight real-time detection capability. Detection accuracy remained competitive with hybrid models. The work supports efficient browser extension-based phishing detection systems.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Bahnsen et al., 2017 – The study introduced cost-sensitive machine learning for fraud and phishing detection. The approach prioritized minimizing false negatives to improve security. Gradient boosting techniques were evaluated for classification. Results demonstrated improved detection performance with balanced precision and recall. Deployment considerations were discussed for real-world applications. The paper highlighted trade-offs between detection accuracy and operational cost. It supports the use of </a:t>
            </a:r>
            <a:r>
              <a:rPr lang="en-US" sz="1600" dirty="0" err="1"/>
              <a:t>LightGBM</a:t>
            </a:r>
            <a:r>
              <a:rPr lang="en-US" sz="1600" dirty="0"/>
              <a:t>-like boosting algorithms in phishing detection.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Le et al., 2018 – This research explored deep learning approaches, particularly Recurrent Neural Networks, for phishing URL detection. Sequential URL patterns were automatically learned by the model. The approach reduced reliance on manual feature engineering. Experimental results showed improved detection of complex phishing URLs. Computational complexity was higher than traditional ML models. The study demonstrated the potential of neural networks in cybersecurity. It opened new research directions in deep learning-based phishing detection</a:t>
            </a:r>
            <a:endParaRPr lang="en-IN" sz="1600" dirty="0"/>
          </a:p>
        </p:txBody>
      </p:sp>
    </p:spTree>
    <p:extLst>
      <p:ext uri="{BB962C8B-B14F-4D97-AF65-F5344CB8AC3E}">
        <p14:creationId xmlns:p14="http://schemas.microsoft.com/office/powerpoint/2010/main" val="3299323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50FD25-A137-EF72-C82A-F0D9564FCEF1}"/>
              </a:ext>
            </a:extLst>
          </p:cNvPr>
          <p:cNvSpPr txBox="1"/>
          <p:nvPr/>
        </p:nvSpPr>
        <p:spPr>
          <a:xfrm>
            <a:off x="373224" y="494522"/>
            <a:ext cx="11159413" cy="5909310"/>
          </a:xfrm>
          <a:prstGeom prst="rect">
            <a:avLst/>
          </a:prstGeom>
          <a:noFill/>
        </p:spPr>
        <p:txBody>
          <a:bodyPr wrap="square" rtlCol="0">
            <a:spAutoFit/>
          </a:bodyPr>
          <a:lstStyle/>
          <a:p>
            <a:pPr marL="285750" indent="-285750">
              <a:buFont typeface="Arial" panose="020B0604020202020204" pitchFamily="34" charset="0"/>
              <a:buChar char="•"/>
            </a:pPr>
            <a:r>
              <a:rPr lang="en-US" dirty="0" err="1"/>
              <a:t>Aburrous</a:t>
            </a:r>
            <a:r>
              <a:rPr lang="en-US" dirty="0"/>
              <a:t> et al., 2010 – The authors proposed a fuzzy logic-based phishing detection model. Webpage features such as URL characteristics and SSL certificate validity were analyzed. Fuzzy inference rules were applied to classify websites. The model improved interpretability compared to black-box machine learning systems. However, scalability remained limited. The approach emphasized explainable decision-making. It influenced hybrid detection systems combining rule-based and ML techniques.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Basnet et al., 2014 – This paper combined heuristic rules with machine learning for phishing detection. Content-based features were extracted from web pages. Experimental evaluation showed improved detection accuracy over standalone models. False positive rates were minimized through hybrid classification. The system demonstrated feasibility for browser-level deployment. User safety and warning mechanisms were discussed. The research contributed to intelligent and practical phishing detection frameworks.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Mohammad et al., 2014 – This study developed a comprehensive phishing website dataset containing 30 extracted features. Structural, domain-based, and security-related attributes were analyzed. Multiple machine learning classifiers were evaluated. Random Forest achieved strong detection performance. The dataset became widely adopted in phishing research. It enabled reproducible benchmarking experiments. The work significantly supported comparative evaluation of phishing detection algorithms.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Jain &amp; Gupta, 2016 – The authors proposed phishing detection using URL-based features only. The method avoided complex webpage content analysis. Logistic Regression and Naïve Bayes classifiers were implemented. The system improved detection speed and computational efficiency. </a:t>
            </a:r>
          </a:p>
        </p:txBody>
      </p:sp>
    </p:spTree>
    <p:extLst>
      <p:ext uri="{BB962C8B-B14F-4D97-AF65-F5344CB8AC3E}">
        <p14:creationId xmlns:p14="http://schemas.microsoft.com/office/powerpoint/2010/main" val="3540544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5E29DD-4656-5FB8-0944-FE228843D4F1}"/>
              </a:ext>
            </a:extLst>
          </p:cNvPr>
          <p:cNvSpPr txBox="1"/>
          <p:nvPr/>
        </p:nvSpPr>
        <p:spPr>
          <a:xfrm>
            <a:off x="121298" y="466531"/>
            <a:ext cx="11915192" cy="6463308"/>
          </a:xfrm>
          <a:prstGeom prst="rect">
            <a:avLst/>
          </a:prstGeom>
          <a:noFill/>
        </p:spPr>
        <p:txBody>
          <a:bodyPr wrap="square" rtlCol="0">
            <a:spAutoFit/>
          </a:bodyPr>
          <a:lstStyle/>
          <a:p>
            <a:pPr marL="285750" indent="-285750">
              <a:buFont typeface="Arial" panose="020B0604020202020204" pitchFamily="34" charset="0"/>
              <a:buChar char="•"/>
            </a:pPr>
            <a:r>
              <a:rPr lang="en-US" dirty="0"/>
              <a:t>Chiew et al., 2018 – This survey reviewed blacklist, heuristic, and machine learning-based phishing detection approaches. Limitations of static blacklist systems were identified. The authors emphasized the need for hybrid detection frameworks. Performance metrics across multiple studies were compared. Zero-day attack detection challenges were discussed. The review highlighted emerging trends in ML-based detection. It strongly supports integrated intelligent systems like </a:t>
            </a:r>
            <a:r>
              <a:rPr lang="en-US" dirty="0" err="1"/>
              <a:t>PhishGuard</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Whittaker et al., 2010 – The paper analyzed large-scale phishing campaigns using data-driven techniques. Patterns in phishing domain lifetimes and attack frequency were studied. Insights were derived from real-world datasets. The study highlighted the dynamic evolution of phishing tactics. Findings supported automated detection and rapid response mechanisms. Large-scale analysis improved understanding of attacker behavior. It strengthened the need for scalable phishing detection systems.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PhishTank</a:t>
            </a:r>
            <a:r>
              <a:rPr lang="en-US" dirty="0"/>
              <a:t>, 2016 – </a:t>
            </a:r>
            <a:r>
              <a:rPr lang="en-US" dirty="0" err="1"/>
              <a:t>PhishTank</a:t>
            </a:r>
            <a:r>
              <a:rPr lang="en-US" dirty="0"/>
              <a:t> provides a collaborative database of verified phishing URLs. The platform supports API-based integration for real-time validation. It enhances detection of known malicious domains. The database is continuously updated by community reports. However, zero-day phishing remains challenging. The dataset is widely used for academic research and benchmarking. It complements machine learning-based phishing detection frameworks.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Google Safe Browsing, 2018 – Google Safe Browsing API offers real-time threat intelligence for phishing detection. It maintains updated blacklists of malicious URLs. Browsers use it to provide warning messages to users. The system is scalable and globally deployed. It effectively detects known phishing threats. However, zero-day attacks require additional ML-based detection. It integrates seamlessly with intelligent phishing detection systems</a:t>
            </a:r>
          </a:p>
          <a:p>
            <a:endParaRPr lang="en-US"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481689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5D954C-89EF-4DC3-3E58-23E8F886A2CC}"/>
              </a:ext>
            </a:extLst>
          </p:cNvPr>
          <p:cNvSpPr txBox="1"/>
          <p:nvPr/>
        </p:nvSpPr>
        <p:spPr>
          <a:xfrm>
            <a:off x="226142" y="314632"/>
            <a:ext cx="11621729" cy="3139321"/>
          </a:xfrm>
          <a:prstGeom prst="rect">
            <a:avLst/>
          </a:prstGeom>
          <a:noFill/>
        </p:spPr>
        <p:txBody>
          <a:bodyPr wrap="square" rtlCol="0">
            <a:spAutoFit/>
          </a:bodyPr>
          <a:lstStyle/>
          <a:p>
            <a:pPr marL="285750" indent="-285750">
              <a:buFont typeface="Arial" panose="020B0604020202020204" pitchFamily="34" charset="0"/>
              <a:buChar char="•"/>
            </a:pPr>
            <a:r>
              <a:rPr lang="en-US" dirty="0"/>
              <a:t> URL-Based Feature </a:t>
            </a:r>
            <a:r>
              <a:rPr lang="en-US" dirty="0" err="1"/>
              <a:t>AnalysisThe</a:t>
            </a:r>
            <a:r>
              <a:rPr lang="en-US" dirty="0"/>
              <a:t> system analyzes each URL by extracting key lexical and heuristic features such as </a:t>
            </a:r>
            <a:r>
              <a:rPr lang="en-US" dirty="0" err="1"/>
              <a:t>URLlength</a:t>
            </a:r>
            <a:r>
              <a:rPr lang="en-US" dirty="0"/>
              <a:t>, number of subdomains, presence of digits/special characters, HTTPS usage, </a:t>
            </a:r>
            <a:r>
              <a:rPr lang="en-US" dirty="0" err="1"/>
              <a:t>andrandomness</a:t>
            </a:r>
            <a:r>
              <a:rPr lang="en-US" dirty="0"/>
              <a:t> indicators like entropy.</a:t>
            </a:r>
          </a:p>
          <a:p>
            <a:pPr marL="285750" indent="-285750">
              <a:buFont typeface="Arial" panose="020B0604020202020204" pitchFamily="34" charset="0"/>
              <a:buChar char="•"/>
            </a:pPr>
            <a:r>
              <a:rPr lang="en-US" dirty="0"/>
              <a:t> Machine Learning </a:t>
            </a:r>
            <a:r>
              <a:rPr lang="en-US" dirty="0" err="1"/>
              <a:t>ClassificationA</a:t>
            </a:r>
            <a:r>
              <a:rPr lang="en-US" dirty="0"/>
              <a:t> trained machine learning model (Random Forest / </a:t>
            </a:r>
            <a:r>
              <a:rPr lang="en-US" dirty="0" err="1"/>
              <a:t>XGBoost</a:t>
            </a:r>
            <a:r>
              <a:rPr lang="en-US" dirty="0"/>
              <a:t> / SVM) is used to classify URLs </a:t>
            </a:r>
            <a:r>
              <a:rPr lang="en-US" dirty="0" err="1"/>
              <a:t>asphishing</a:t>
            </a:r>
            <a:r>
              <a:rPr lang="en-US" dirty="0"/>
              <a:t> or legitimate based on learned feature patterns, ensuring high accuracy and low </a:t>
            </a:r>
            <a:r>
              <a:rPr lang="en-US" dirty="0" err="1"/>
              <a:t>falsepositives</a:t>
            </a:r>
            <a:r>
              <a:rPr lang="en-US" dirty="0"/>
              <a:t>.</a:t>
            </a:r>
          </a:p>
          <a:p>
            <a:pPr marL="285750" indent="-285750">
              <a:buFont typeface="Arial" panose="020B0604020202020204" pitchFamily="34" charset="0"/>
              <a:buChar char="•"/>
            </a:pPr>
            <a:r>
              <a:rPr lang="en-US" dirty="0"/>
              <a:t>Real-Time Detection </a:t>
            </a:r>
            <a:r>
              <a:rPr lang="en-US" dirty="0" err="1"/>
              <a:t>ModuleThe</a:t>
            </a:r>
            <a:r>
              <a:rPr lang="en-US" dirty="0"/>
              <a:t> final model is deployed in a real-time environment (browser extension or web interface)where users can instantly check any URL. The module processes features on the spot and </a:t>
            </a:r>
            <a:r>
              <a:rPr lang="en-US" dirty="0" err="1"/>
              <a:t>returnsimmediate</a:t>
            </a:r>
            <a:r>
              <a:rPr lang="en-US" dirty="0"/>
              <a:t> predictions.</a:t>
            </a:r>
          </a:p>
          <a:p>
            <a:pPr marL="285750" indent="-285750">
              <a:buFont typeface="Arial" panose="020B0604020202020204" pitchFamily="34" charset="0"/>
              <a:buChar char="•"/>
            </a:pPr>
            <a:r>
              <a:rPr lang="en-US" dirty="0"/>
              <a:t>Enhanced User </a:t>
            </a:r>
            <a:r>
              <a:rPr lang="en-US" dirty="0" err="1"/>
              <a:t>SafetyThe</a:t>
            </a:r>
            <a:r>
              <a:rPr lang="en-US" dirty="0"/>
              <a:t> system provides clear alerts or warnings for suspicious URLs, enabling users to </a:t>
            </a:r>
            <a:r>
              <a:rPr lang="en-US" dirty="0" err="1"/>
              <a:t>avoidphishing</a:t>
            </a:r>
            <a:r>
              <a:rPr lang="en-US" dirty="0"/>
              <a:t> attacks without requiring technical skills. This approach strengthens online </a:t>
            </a:r>
            <a:r>
              <a:rPr lang="en-US" dirty="0" err="1"/>
              <a:t>safetythrough</a:t>
            </a:r>
            <a:r>
              <a:rPr lang="en-US" dirty="0"/>
              <a:t> automated, fast, and reliable detection.</a:t>
            </a:r>
            <a:endParaRPr lang="en-IN" dirty="0"/>
          </a:p>
        </p:txBody>
      </p:sp>
    </p:spTree>
    <p:extLst>
      <p:ext uri="{BB962C8B-B14F-4D97-AF65-F5344CB8AC3E}">
        <p14:creationId xmlns:p14="http://schemas.microsoft.com/office/powerpoint/2010/main" val="3886573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266-5B52-ED84-096E-0D3D3B779207}"/>
              </a:ext>
            </a:extLst>
          </p:cNvPr>
          <p:cNvSpPr>
            <a:spLocks noGrp="1"/>
          </p:cNvSpPr>
          <p:nvPr>
            <p:ph type="title"/>
          </p:nvPr>
        </p:nvSpPr>
        <p:spPr>
          <a:xfrm>
            <a:off x="838200" y="365126"/>
            <a:ext cx="10515600" cy="814746"/>
          </a:xfrm>
        </p:spPr>
        <p:txBody>
          <a:bodyPr>
            <a:normAutofit fontScale="90000"/>
          </a:bodyPr>
          <a:lstStyle/>
          <a:p>
            <a:r>
              <a:rPr lang="en-IN" dirty="0"/>
              <a:t>Existing System</a:t>
            </a:r>
            <a:br>
              <a:rPr lang="en-IN" dirty="0"/>
            </a:br>
            <a:endParaRPr lang="en-IN" dirty="0"/>
          </a:p>
        </p:txBody>
      </p:sp>
      <p:sp>
        <p:nvSpPr>
          <p:cNvPr id="3" name="TextBox 2">
            <a:extLst>
              <a:ext uri="{FF2B5EF4-FFF2-40B4-BE49-F238E27FC236}">
                <a16:creationId xmlns:a16="http://schemas.microsoft.com/office/drawing/2014/main" id="{9E7D7DB6-8773-07BE-AFBF-A0B2F087882C}"/>
              </a:ext>
            </a:extLst>
          </p:cNvPr>
          <p:cNvSpPr txBox="1"/>
          <p:nvPr/>
        </p:nvSpPr>
        <p:spPr>
          <a:xfrm>
            <a:off x="668594" y="806245"/>
            <a:ext cx="11189109" cy="4524315"/>
          </a:xfrm>
          <a:prstGeom prst="rect">
            <a:avLst/>
          </a:prstGeom>
          <a:noFill/>
        </p:spPr>
        <p:txBody>
          <a:bodyPr wrap="square" rtlCol="0">
            <a:spAutoFit/>
          </a:bodyPr>
          <a:lstStyle/>
          <a:p>
            <a:r>
              <a:rPr lang="en-IN" dirty="0"/>
              <a:t>Phishing attacks remain one of the most widespread and damaging cyber threats, exploiting user trust to</a:t>
            </a:r>
          </a:p>
          <a:p>
            <a:r>
              <a:rPr lang="en-IN" dirty="0"/>
              <a:t>steal sensitive information such as login credentials, financial data, and personal details. Attackers</a:t>
            </a:r>
          </a:p>
          <a:p>
            <a:r>
              <a:rPr lang="en-IN" dirty="0"/>
              <a:t>continuously evolve their techniques by creating visually deceptive websites, using shortened URLs,</a:t>
            </a:r>
          </a:p>
          <a:p>
            <a:r>
              <a:rPr lang="en-IN" dirty="0"/>
              <a:t>spoofed domains, and fake SSL indicators. Traditional detection mechanisms—such as blacklists, static</a:t>
            </a:r>
          </a:p>
          <a:p>
            <a:r>
              <a:rPr lang="en-IN" dirty="0"/>
              <a:t>rules, and manual verification—fail to keep pace with these rapidly changing attack patterns. Blacklists</a:t>
            </a:r>
          </a:p>
          <a:p>
            <a:r>
              <a:rPr lang="en-IN" dirty="0"/>
              <a:t>become outdated within days, static heuristics generate high false positives, and users often lack the ability</a:t>
            </a:r>
          </a:p>
          <a:p>
            <a:r>
              <a:rPr lang="en-IN" dirty="0"/>
              <a:t>to differentiate between genuine and fraudulent websites. As a result, there is a critical need for a system</a:t>
            </a:r>
          </a:p>
          <a:p>
            <a:r>
              <a:rPr lang="en-IN" dirty="0"/>
              <a:t>that can intelligently </a:t>
            </a:r>
            <a:r>
              <a:rPr lang="en-IN" dirty="0" err="1"/>
              <a:t>analyze</a:t>
            </a:r>
            <a:r>
              <a:rPr lang="en-IN" dirty="0"/>
              <a:t> URLs in real time and accurately classify them as safe or malicious. Existing</a:t>
            </a:r>
          </a:p>
          <a:p>
            <a:r>
              <a:rPr lang="en-IN" dirty="0"/>
              <a:t>solutions relying on cloud-based threat feeds or manual reporting also introduce delays and may not</a:t>
            </a:r>
          </a:p>
          <a:p>
            <a:r>
              <a:rPr lang="en-IN" dirty="0"/>
              <a:t>protect users instantly during browsing. Therefore, the problem is to design and develop a </a:t>
            </a:r>
            <a:r>
              <a:rPr lang="en-IN" dirty="0" err="1"/>
              <a:t>machinelearning</a:t>
            </a:r>
            <a:r>
              <a:rPr lang="en-IN" dirty="0"/>
              <a:t>-based phishing detection system that can learn from URL features, adapt to evolving attack</a:t>
            </a:r>
          </a:p>
          <a:p>
            <a:r>
              <a:rPr lang="en-IN" dirty="0"/>
              <a:t>trends, and provide immediate, reliable alerts through a browser-integrated interface.</a:t>
            </a:r>
          </a:p>
          <a:p>
            <a:r>
              <a:rPr lang="en-IN" dirty="0" err="1"/>
              <a:t>PhishGuard</a:t>
            </a:r>
            <a:r>
              <a:rPr lang="en-IN" dirty="0"/>
              <a:t> aims to address these challenges by building a smart, automated, and real-time detection</a:t>
            </a:r>
          </a:p>
          <a:p>
            <a:r>
              <a:rPr lang="en-IN" dirty="0"/>
              <a:t>platform that improves accuracy, reduces false alarms, and shields users from phishing threats before they</a:t>
            </a:r>
          </a:p>
          <a:p>
            <a:r>
              <a:rPr lang="en-IN" dirty="0"/>
              <a:t>interact with harmful content.</a:t>
            </a:r>
          </a:p>
          <a:p>
            <a:endParaRPr lang="en-IN" dirty="0"/>
          </a:p>
        </p:txBody>
      </p:sp>
    </p:spTree>
    <p:extLst>
      <p:ext uri="{BB962C8B-B14F-4D97-AF65-F5344CB8AC3E}">
        <p14:creationId xmlns:p14="http://schemas.microsoft.com/office/powerpoint/2010/main" val="154639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57AAD-650E-F27A-EA29-AA5FE9CAA7AD}"/>
              </a:ext>
            </a:extLst>
          </p:cNvPr>
          <p:cNvSpPr>
            <a:spLocks noGrp="1"/>
          </p:cNvSpPr>
          <p:nvPr>
            <p:ph type="title"/>
          </p:nvPr>
        </p:nvSpPr>
        <p:spPr>
          <a:xfrm>
            <a:off x="838200" y="365126"/>
            <a:ext cx="10515600" cy="726256"/>
          </a:xfrm>
        </p:spPr>
        <p:txBody>
          <a:bodyPr/>
          <a:lstStyle/>
          <a:p>
            <a:r>
              <a:rPr lang="en-IN" dirty="0"/>
              <a:t>Proposed System:</a:t>
            </a:r>
          </a:p>
        </p:txBody>
      </p:sp>
      <p:sp>
        <p:nvSpPr>
          <p:cNvPr id="4" name="TextBox 3">
            <a:extLst>
              <a:ext uri="{FF2B5EF4-FFF2-40B4-BE49-F238E27FC236}">
                <a16:creationId xmlns:a16="http://schemas.microsoft.com/office/drawing/2014/main" id="{08DC40B1-EF29-6255-FCA2-3701E5FBCED6}"/>
              </a:ext>
            </a:extLst>
          </p:cNvPr>
          <p:cNvSpPr txBox="1"/>
          <p:nvPr/>
        </p:nvSpPr>
        <p:spPr>
          <a:xfrm>
            <a:off x="393290" y="1258529"/>
            <a:ext cx="11513575" cy="5078313"/>
          </a:xfrm>
          <a:prstGeom prst="rect">
            <a:avLst/>
          </a:prstGeom>
          <a:noFill/>
        </p:spPr>
        <p:txBody>
          <a:bodyPr wrap="square" rtlCol="0">
            <a:spAutoFit/>
          </a:bodyPr>
          <a:lstStyle/>
          <a:p>
            <a:r>
              <a:rPr lang="en-US" dirty="0"/>
              <a:t>The methodology describes the step-by-step process followed to design, develop, and evaluate the phishing detection system. It includes dataset handling, feature engineering, model training, and final </a:t>
            </a:r>
            <a:r>
              <a:rPr lang="en-US" dirty="0" err="1"/>
              <a:t>systemdeployment</a:t>
            </a:r>
            <a:r>
              <a:rPr lang="en-US" dirty="0"/>
              <a:t>. Each phase contributes to building an accurate and reliable phishing URL detection model.</a:t>
            </a:r>
          </a:p>
          <a:p>
            <a:pPr marL="285750" indent="-285750">
              <a:buFont typeface="Arial" panose="020B0604020202020204" pitchFamily="34" charset="0"/>
              <a:buChar char="•"/>
            </a:pPr>
            <a:r>
              <a:rPr lang="en-US" dirty="0"/>
              <a:t>Dataset Collection: Phishing and legitimate URLs are collected from public sources like </a:t>
            </a:r>
            <a:r>
              <a:rPr lang="en-US" dirty="0" err="1"/>
              <a:t>PhishTank,Kaggle</a:t>
            </a:r>
            <a:r>
              <a:rPr lang="en-US" dirty="0"/>
              <a:t>, and ISCX to build a reliable dataset.</a:t>
            </a:r>
          </a:p>
          <a:p>
            <a:pPr marL="285750" indent="-285750">
              <a:buFont typeface="Arial" panose="020B0604020202020204" pitchFamily="34" charset="0"/>
              <a:buChar char="•"/>
            </a:pPr>
            <a:r>
              <a:rPr lang="en-US" dirty="0"/>
              <a:t> Data </a:t>
            </a:r>
            <a:r>
              <a:rPr lang="en-US" dirty="0" err="1"/>
              <a:t>Pre-processing:URLs</a:t>
            </a:r>
            <a:r>
              <a:rPr lang="en-US" dirty="0"/>
              <a:t> are cleaned by removing duplicates, fixing formats, and filtering </a:t>
            </a:r>
            <a:r>
              <a:rPr lang="en-US" dirty="0" err="1"/>
              <a:t>inactivelinks</a:t>
            </a:r>
            <a:r>
              <a:rPr lang="en-US" dirty="0"/>
              <a:t> to ensure consistent and high-quality input.</a:t>
            </a:r>
          </a:p>
          <a:p>
            <a:pPr marL="285750" indent="-285750">
              <a:buFont typeface="Arial" panose="020B0604020202020204" pitchFamily="34" charset="0"/>
              <a:buChar char="•"/>
            </a:pPr>
            <a:r>
              <a:rPr lang="en-US" dirty="0"/>
              <a:t> Feature Extraction: Important URL features such as length, subdomains, digits, special </a:t>
            </a:r>
            <a:r>
              <a:rPr lang="en-US" dirty="0" err="1"/>
              <a:t>characters,HTTPS</a:t>
            </a:r>
            <a:r>
              <a:rPr lang="en-US" dirty="0"/>
              <a:t> usage, and entropy are extracted for model learning.</a:t>
            </a:r>
          </a:p>
          <a:p>
            <a:pPr marL="285750" indent="-285750">
              <a:buFont typeface="Arial" panose="020B0604020202020204" pitchFamily="34" charset="0"/>
              <a:buChar char="•"/>
            </a:pPr>
            <a:r>
              <a:rPr lang="en-US" dirty="0"/>
              <a:t> Model Training: Machine learning models (Random Forest, </a:t>
            </a:r>
            <a:r>
              <a:rPr lang="en-US" dirty="0" err="1"/>
              <a:t>XGBoost</a:t>
            </a:r>
            <a:r>
              <a:rPr lang="en-US" dirty="0"/>
              <a:t>, SVM, etc.) are trained on </a:t>
            </a:r>
            <a:r>
              <a:rPr lang="en-US" dirty="0" err="1"/>
              <a:t>theextracted</a:t>
            </a:r>
            <a:r>
              <a:rPr lang="en-US" dirty="0"/>
              <a:t> features to classify URLs as phishing or legitimate.</a:t>
            </a:r>
          </a:p>
          <a:p>
            <a:pPr marL="285750" indent="-285750">
              <a:buFont typeface="Arial" panose="020B0604020202020204" pitchFamily="34" charset="0"/>
              <a:buChar char="•"/>
            </a:pPr>
            <a:r>
              <a:rPr lang="en-US" dirty="0"/>
              <a:t> Evaluation: Models are tested using accuracy, precision, recall, and F1-score to choose the </a:t>
            </a:r>
            <a:r>
              <a:rPr lang="en-US" dirty="0" err="1"/>
              <a:t>bestperformer</a:t>
            </a:r>
            <a:r>
              <a:rPr lang="en-US" dirty="0"/>
              <a:t> for deployment.</a:t>
            </a:r>
          </a:p>
          <a:p>
            <a:pPr marL="285750" indent="-285750">
              <a:buFont typeface="Arial" panose="020B0604020202020204" pitchFamily="34" charset="0"/>
              <a:buChar char="•"/>
            </a:pPr>
            <a:r>
              <a:rPr lang="en-US" dirty="0"/>
              <a:t> System Deployment: The selected model is integrated into a browser extension or web tool to </a:t>
            </a:r>
            <a:r>
              <a:rPr lang="en-US" dirty="0" err="1"/>
              <a:t>providereal</a:t>
            </a:r>
            <a:r>
              <a:rPr lang="en-US" dirty="0"/>
              <a:t>-time phishing </a:t>
            </a:r>
            <a:r>
              <a:rPr lang="en-US" dirty="0" err="1"/>
              <a:t>detection.Proposed</a:t>
            </a:r>
            <a:r>
              <a:rPr lang="en-US" dirty="0"/>
              <a:t> Approach: The proposed approach aims to build an intelligent phishing detection system that accurately </a:t>
            </a:r>
            <a:r>
              <a:rPr lang="en-US" dirty="0" err="1"/>
              <a:t>identifiesmalicious</a:t>
            </a:r>
            <a:r>
              <a:rPr lang="en-US" dirty="0"/>
              <a:t> URLs using machine learning and real-time analysis. The system focuses on </a:t>
            </a:r>
            <a:r>
              <a:rPr lang="en-US" dirty="0" err="1"/>
              <a:t>extractingmeaningful</a:t>
            </a:r>
            <a:r>
              <a:rPr lang="en-US" dirty="0"/>
              <a:t> URL-based features, training an efficient classifier, and integrating it into a user-</a:t>
            </a:r>
            <a:r>
              <a:rPr lang="en-US" dirty="0" err="1"/>
              <a:t>friendlyplatform</a:t>
            </a:r>
            <a:r>
              <a:rPr lang="en-US" dirty="0"/>
              <a:t> for instant detection.</a:t>
            </a:r>
            <a:endParaRPr lang="en-IN" dirty="0"/>
          </a:p>
        </p:txBody>
      </p:sp>
    </p:spTree>
    <p:extLst>
      <p:ext uri="{BB962C8B-B14F-4D97-AF65-F5344CB8AC3E}">
        <p14:creationId xmlns:p14="http://schemas.microsoft.com/office/powerpoint/2010/main" val="3655515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FAE8-B24E-2DAB-628B-928EA031B44D}"/>
              </a:ext>
            </a:extLst>
          </p:cNvPr>
          <p:cNvSpPr>
            <a:spLocks noGrp="1"/>
          </p:cNvSpPr>
          <p:nvPr>
            <p:ph type="title"/>
          </p:nvPr>
        </p:nvSpPr>
        <p:spPr>
          <a:xfrm>
            <a:off x="838200" y="365125"/>
            <a:ext cx="10515600" cy="922499"/>
          </a:xfrm>
        </p:spPr>
        <p:txBody>
          <a:bodyPr/>
          <a:lstStyle/>
          <a:p>
            <a:r>
              <a:rPr lang="en-IN" dirty="0"/>
              <a:t>SYSTEM  REQUIREMENT</a:t>
            </a:r>
          </a:p>
        </p:txBody>
      </p:sp>
      <p:sp>
        <p:nvSpPr>
          <p:cNvPr id="4" name="TextBox 3">
            <a:extLst>
              <a:ext uri="{FF2B5EF4-FFF2-40B4-BE49-F238E27FC236}">
                <a16:creationId xmlns:a16="http://schemas.microsoft.com/office/drawing/2014/main" id="{18330A80-DB3B-E166-240B-C9756B33D7C4}"/>
              </a:ext>
            </a:extLst>
          </p:cNvPr>
          <p:cNvSpPr txBox="1"/>
          <p:nvPr/>
        </p:nvSpPr>
        <p:spPr>
          <a:xfrm>
            <a:off x="838200" y="1455576"/>
            <a:ext cx="10778412" cy="4585871"/>
          </a:xfrm>
          <a:prstGeom prst="rect">
            <a:avLst/>
          </a:prstGeom>
          <a:noFill/>
        </p:spPr>
        <p:txBody>
          <a:bodyPr wrap="square" rtlCol="0">
            <a:spAutoFit/>
          </a:bodyPr>
          <a:lstStyle/>
          <a:p>
            <a:r>
              <a:rPr lang="en-IN" dirty="0"/>
              <a:t>HARDWARE REQUREMENT</a:t>
            </a:r>
          </a:p>
          <a:p>
            <a:endParaRPr lang="en-IN" dirty="0"/>
          </a:p>
          <a:p>
            <a:pPr marL="285750" indent="-285750">
              <a:buFont typeface="Arial" panose="020B0604020202020204" pitchFamily="34" charset="0"/>
              <a:buChar char="•"/>
            </a:pPr>
            <a:r>
              <a:rPr lang="en-IN" sz="2000" dirty="0"/>
              <a:t>Processor: Intel i3 / AMD equivalent</a:t>
            </a:r>
          </a:p>
          <a:p>
            <a:pPr marL="285750" indent="-285750">
              <a:buFont typeface="Arial" panose="020B0604020202020204" pitchFamily="34" charset="0"/>
              <a:buChar char="•"/>
            </a:pPr>
            <a:r>
              <a:rPr lang="en-IN" sz="2000" dirty="0"/>
              <a:t> RAM: 4 GB</a:t>
            </a:r>
          </a:p>
          <a:p>
            <a:pPr marL="285750" indent="-285750">
              <a:buFont typeface="Arial" panose="020B0604020202020204" pitchFamily="34" charset="0"/>
              <a:buChar char="•"/>
            </a:pPr>
            <a:r>
              <a:rPr lang="en-IN" sz="2000" dirty="0"/>
              <a:t> Storage: 500 MB–1 GB free space</a:t>
            </a:r>
          </a:p>
          <a:p>
            <a:pPr marL="285750" indent="-285750">
              <a:buFont typeface="Arial" panose="020B0604020202020204" pitchFamily="34" charset="0"/>
              <a:buChar char="•"/>
            </a:pPr>
            <a:r>
              <a:rPr lang="en-IN" sz="2000" dirty="0"/>
              <a:t> Operating System: Windows 10/11, macOS, or Linux</a:t>
            </a:r>
          </a:p>
          <a:p>
            <a:pPr marL="285750" indent="-285750">
              <a:buFont typeface="Arial" panose="020B0604020202020204" pitchFamily="34" charset="0"/>
              <a:buChar char="•"/>
            </a:pPr>
            <a:r>
              <a:rPr lang="en-IN" sz="2000" dirty="0"/>
              <a:t> Network: Stable internet connection for dataset retrieval and extension communication</a:t>
            </a:r>
          </a:p>
          <a:p>
            <a:pPr marL="285750" indent="-285750">
              <a:buFont typeface="Arial" panose="020B0604020202020204" pitchFamily="34" charset="0"/>
              <a:buChar char="•"/>
            </a:pPr>
            <a:r>
              <a:rPr lang="en-IN" sz="2000" dirty="0"/>
              <a:t>Recommended Requirements (Development + Deployment)</a:t>
            </a:r>
          </a:p>
          <a:p>
            <a:pPr marL="285750" indent="-285750">
              <a:buFont typeface="Arial" panose="020B0604020202020204" pitchFamily="34" charset="0"/>
              <a:buChar char="•"/>
            </a:pPr>
            <a:r>
              <a:rPr lang="en-IN" sz="2000" dirty="0"/>
              <a:t> Processor: Intel i5/i7 or AMD </a:t>
            </a:r>
            <a:r>
              <a:rPr lang="en-IN" sz="2000" dirty="0" err="1"/>
              <a:t>Ryzen</a:t>
            </a:r>
            <a:r>
              <a:rPr lang="en-IN" sz="2000" dirty="0"/>
              <a:t> 5/7</a:t>
            </a:r>
          </a:p>
          <a:p>
            <a:pPr marL="285750" indent="-285750">
              <a:buFont typeface="Arial" panose="020B0604020202020204" pitchFamily="34" charset="0"/>
              <a:buChar char="•"/>
            </a:pPr>
            <a:r>
              <a:rPr lang="en-IN" sz="2000" dirty="0"/>
              <a:t> RAM: 8 GB or higher for faster model training and API responsiveness</a:t>
            </a:r>
          </a:p>
          <a:p>
            <a:pPr marL="285750" indent="-285750">
              <a:buFont typeface="Arial" panose="020B0604020202020204" pitchFamily="34" charset="0"/>
              <a:buChar char="•"/>
            </a:pPr>
            <a:r>
              <a:rPr lang="en-IN" sz="2000" dirty="0"/>
              <a:t> Storage: 2–4 GB free space for logs, model files, and temporary data</a:t>
            </a:r>
          </a:p>
          <a:p>
            <a:pPr marL="285750" indent="-285750">
              <a:buFont typeface="Arial" panose="020B0604020202020204" pitchFamily="34" charset="0"/>
              <a:buChar char="•"/>
            </a:pPr>
            <a:r>
              <a:rPr lang="en-IN" sz="2000" dirty="0"/>
              <a:t> GPU (Optional): Useful for accelerating deep learning approaches if require.</a:t>
            </a:r>
          </a:p>
          <a:p>
            <a:endParaRPr lang="en-IN" sz="2000" dirty="0"/>
          </a:p>
          <a:p>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450019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DB3A6E-F348-B986-484F-CA39F057EF19}"/>
              </a:ext>
            </a:extLst>
          </p:cNvPr>
          <p:cNvSpPr txBox="1"/>
          <p:nvPr/>
        </p:nvSpPr>
        <p:spPr>
          <a:xfrm>
            <a:off x="563418" y="563418"/>
            <a:ext cx="11259127" cy="5632311"/>
          </a:xfrm>
          <a:prstGeom prst="rect">
            <a:avLst/>
          </a:prstGeom>
          <a:noFill/>
        </p:spPr>
        <p:txBody>
          <a:bodyPr wrap="square" rtlCol="0">
            <a:spAutoFit/>
          </a:bodyPr>
          <a:lstStyle/>
          <a:p>
            <a:endParaRPr lang="en-IN" dirty="0"/>
          </a:p>
          <a:p>
            <a:r>
              <a:rPr lang="en-IN" dirty="0"/>
              <a:t>SOFTWRAE REQUREMENT</a:t>
            </a:r>
          </a:p>
          <a:p>
            <a:pPr marL="285750" indent="-285750">
              <a:buFont typeface="Arial" panose="020B0604020202020204" pitchFamily="34" charset="0"/>
              <a:buChar char="•"/>
            </a:pPr>
            <a:r>
              <a:rPr lang="en-IN" dirty="0"/>
              <a:t>Frontend (Chrome Extension)</a:t>
            </a:r>
          </a:p>
          <a:p>
            <a:pPr marL="285750" indent="-285750">
              <a:buFont typeface="Arial" panose="020B0604020202020204" pitchFamily="34" charset="0"/>
              <a:buChar char="•"/>
            </a:pPr>
            <a:r>
              <a:rPr lang="en-IN" dirty="0"/>
              <a:t> HTML5, CSS3, </a:t>
            </a:r>
            <a:r>
              <a:rPr lang="en-IN" dirty="0" err="1"/>
              <a:t>JavaScript,React</a:t>
            </a:r>
            <a:r>
              <a:rPr lang="en-IN" dirty="0"/>
              <a:t> </a:t>
            </a:r>
            <a:r>
              <a:rPr lang="en-IN" dirty="0" err="1"/>
              <a:t>js</a:t>
            </a:r>
            <a:endParaRPr lang="en-IN" dirty="0"/>
          </a:p>
          <a:p>
            <a:pPr marL="285750" indent="-285750">
              <a:buFont typeface="Arial" panose="020B0604020202020204" pitchFamily="34" charset="0"/>
              <a:buChar char="•"/>
            </a:pPr>
            <a:r>
              <a:rPr lang="en-IN" dirty="0"/>
              <a:t> Chrome Extension APIs</a:t>
            </a:r>
          </a:p>
          <a:p>
            <a:pPr marL="285750" indent="-285750">
              <a:buFont typeface="Arial" panose="020B0604020202020204" pitchFamily="34" charset="0"/>
              <a:buChar char="•"/>
            </a:pPr>
            <a:r>
              <a:rPr lang="en-IN" dirty="0"/>
              <a:t>Browser Extension Manifest (v3)</a:t>
            </a:r>
          </a:p>
          <a:p>
            <a:pPr marL="285750" indent="-285750">
              <a:buFont typeface="Arial" panose="020B0604020202020204" pitchFamily="34" charset="0"/>
              <a:buChar char="•"/>
            </a:pPr>
            <a:r>
              <a:rPr lang="en-IN" dirty="0"/>
              <a:t>Backend &amp; API</a:t>
            </a:r>
          </a:p>
          <a:p>
            <a:pPr marL="285750" indent="-285750">
              <a:buFont typeface="Arial" panose="020B0604020202020204" pitchFamily="34" charset="0"/>
              <a:buChar char="•"/>
            </a:pPr>
            <a:r>
              <a:rPr lang="en-IN" dirty="0"/>
              <a:t> Python 3.10+</a:t>
            </a:r>
          </a:p>
          <a:p>
            <a:pPr marL="285750" indent="-285750">
              <a:buFont typeface="Arial" panose="020B0604020202020204" pitchFamily="34" charset="0"/>
              <a:buChar char="•"/>
            </a:pPr>
            <a:r>
              <a:rPr lang="en-IN" dirty="0"/>
              <a:t> Flask or </a:t>
            </a:r>
            <a:r>
              <a:rPr lang="en-IN" dirty="0" err="1"/>
              <a:t>FastAPI</a:t>
            </a:r>
            <a:r>
              <a:rPr lang="en-IN" dirty="0"/>
              <a:t> for backend API</a:t>
            </a:r>
          </a:p>
          <a:p>
            <a:pPr marL="285750" indent="-285750">
              <a:buFont typeface="Arial" panose="020B0604020202020204" pitchFamily="34" charset="0"/>
              <a:buChar char="•"/>
            </a:pPr>
            <a:r>
              <a:rPr lang="en-IN" dirty="0"/>
              <a:t> Requests library for communication between extension and backend</a:t>
            </a:r>
          </a:p>
          <a:p>
            <a:pPr marL="285750" indent="-285750">
              <a:buFont typeface="Arial" panose="020B0604020202020204" pitchFamily="34" charset="0"/>
              <a:buChar char="•"/>
            </a:pPr>
            <a:r>
              <a:rPr lang="en-IN" dirty="0"/>
              <a:t> JSON for data exchange</a:t>
            </a:r>
          </a:p>
          <a:p>
            <a:r>
              <a:rPr lang="en-IN" dirty="0"/>
              <a:t>Machine Learning &amp; Data Processing</a:t>
            </a:r>
          </a:p>
          <a:p>
            <a:pPr marL="285750" indent="-285750">
              <a:buFont typeface="Arial" panose="020B0604020202020204" pitchFamily="34" charset="0"/>
              <a:buChar char="•"/>
            </a:pPr>
            <a:r>
              <a:rPr lang="en-IN" dirty="0"/>
              <a:t>➢ Scikit-learn for ML algorithms (Random Forest, Gradient Boosting, Logistic Regression, etc.)</a:t>
            </a:r>
          </a:p>
          <a:p>
            <a:pPr marL="285750" indent="-285750">
              <a:buFont typeface="Arial" panose="020B0604020202020204" pitchFamily="34" charset="0"/>
              <a:buChar char="•"/>
            </a:pPr>
            <a:r>
              <a:rPr lang="en-IN" dirty="0"/>
              <a:t>➢ Pandas and NumPy for dataset preprocessing • Matplotlib/Seaborn for visualization</a:t>
            </a:r>
          </a:p>
          <a:p>
            <a:pPr marL="285750" indent="-285750">
              <a:buFont typeface="Arial" panose="020B0604020202020204" pitchFamily="34" charset="0"/>
              <a:buChar char="•"/>
            </a:pPr>
            <a:r>
              <a:rPr lang="en-IN" dirty="0"/>
              <a:t>➢ </a:t>
            </a:r>
            <a:r>
              <a:rPr lang="en-IN" dirty="0" err="1"/>
              <a:t>Jupyter</a:t>
            </a:r>
            <a:r>
              <a:rPr lang="en-IN" dirty="0"/>
              <a:t> Notebook / VS Code for development</a:t>
            </a:r>
          </a:p>
          <a:p>
            <a:pPr marL="285750" indent="-285750">
              <a:buFont typeface="Arial" panose="020B0604020202020204" pitchFamily="34" charset="0"/>
              <a:buChar char="•"/>
            </a:pPr>
            <a:r>
              <a:rPr lang="en-IN" dirty="0"/>
              <a:t>Testing &amp; Deployment</a:t>
            </a:r>
          </a:p>
          <a:p>
            <a:pPr marL="285750" indent="-285750">
              <a:buFont typeface="Arial" panose="020B0604020202020204" pitchFamily="34" charset="0"/>
              <a:buChar char="•"/>
            </a:pPr>
            <a:r>
              <a:rPr lang="en-IN" dirty="0"/>
              <a:t>➢ Git for version control</a:t>
            </a:r>
          </a:p>
          <a:p>
            <a:pPr marL="285750" indent="-285750">
              <a:buFont typeface="Arial" panose="020B0604020202020204" pitchFamily="34" charset="0"/>
              <a:buChar char="•"/>
            </a:pPr>
            <a:r>
              <a:rPr lang="en-IN" dirty="0"/>
              <a:t>➢ Postman for API testing</a:t>
            </a:r>
          </a:p>
          <a:p>
            <a:pPr marL="285750" indent="-285750">
              <a:buFont typeface="Arial" panose="020B0604020202020204" pitchFamily="34" charset="0"/>
              <a:buChar char="•"/>
            </a:pPr>
            <a:r>
              <a:rPr lang="en-IN" dirty="0"/>
              <a:t>➢ </a:t>
            </a:r>
            <a:r>
              <a:rPr lang="en-IN" dirty="0" err="1"/>
              <a:t>PhishTank</a:t>
            </a:r>
            <a:r>
              <a:rPr lang="en-IN" dirty="0"/>
              <a:t>/</a:t>
            </a:r>
            <a:r>
              <a:rPr lang="en-IN" dirty="0" err="1"/>
              <a:t>OpenPhish</a:t>
            </a:r>
            <a:r>
              <a:rPr lang="en-IN" dirty="0"/>
              <a:t> datasets for training</a:t>
            </a:r>
          </a:p>
          <a:p>
            <a:endParaRPr lang="en-IN" dirty="0"/>
          </a:p>
        </p:txBody>
      </p:sp>
    </p:spTree>
    <p:extLst>
      <p:ext uri="{BB962C8B-B14F-4D97-AF65-F5344CB8AC3E}">
        <p14:creationId xmlns:p14="http://schemas.microsoft.com/office/powerpoint/2010/main" val="815534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4B970-2268-CB95-5652-4C77BDDEF42F}"/>
              </a:ext>
            </a:extLst>
          </p:cNvPr>
          <p:cNvSpPr>
            <a:spLocks noGrp="1"/>
          </p:cNvSpPr>
          <p:nvPr>
            <p:ph type="title"/>
          </p:nvPr>
        </p:nvSpPr>
        <p:spPr/>
        <p:txBody>
          <a:bodyPr/>
          <a:lstStyle/>
          <a:p>
            <a:r>
              <a:rPr lang="en-IN" dirty="0"/>
              <a:t>CONCLUSION</a:t>
            </a:r>
          </a:p>
        </p:txBody>
      </p:sp>
    </p:spTree>
    <p:extLst>
      <p:ext uri="{BB962C8B-B14F-4D97-AF65-F5344CB8AC3E}">
        <p14:creationId xmlns:p14="http://schemas.microsoft.com/office/powerpoint/2010/main" val="2042589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EA85-73B0-6C8B-98FB-30EB6E58BD44}"/>
              </a:ext>
            </a:extLst>
          </p:cNvPr>
          <p:cNvSpPr>
            <a:spLocks noGrp="1"/>
          </p:cNvSpPr>
          <p:nvPr>
            <p:ph type="title"/>
          </p:nvPr>
        </p:nvSpPr>
        <p:spPr/>
        <p:txBody>
          <a:bodyPr>
            <a:normAutofit/>
          </a:bodyPr>
          <a:lstStyle/>
          <a:p>
            <a:r>
              <a:rPr lang="en-IN" sz="6000" dirty="0"/>
              <a:t>REFERENCES</a:t>
            </a:r>
          </a:p>
        </p:txBody>
      </p:sp>
      <p:sp>
        <p:nvSpPr>
          <p:cNvPr id="3" name="TextBox 2">
            <a:extLst>
              <a:ext uri="{FF2B5EF4-FFF2-40B4-BE49-F238E27FC236}">
                <a16:creationId xmlns:a16="http://schemas.microsoft.com/office/drawing/2014/main" id="{D8DED7B8-2D4C-26D4-E0D0-7FCBC95929C5}"/>
              </a:ext>
            </a:extLst>
          </p:cNvPr>
          <p:cNvSpPr txBox="1"/>
          <p:nvPr/>
        </p:nvSpPr>
        <p:spPr>
          <a:xfrm>
            <a:off x="838200" y="1690688"/>
            <a:ext cx="10946363" cy="4801314"/>
          </a:xfrm>
          <a:prstGeom prst="rect">
            <a:avLst/>
          </a:prstGeom>
          <a:noFill/>
        </p:spPr>
        <p:txBody>
          <a:bodyPr wrap="square" rtlCol="0">
            <a:spAutoFit/>
          </a:bodyPr>
          <a:lstStyle/>
          <a:p>
            <a:pPr marL="285750" indent="-285750">
              <a:buFont typeface="Arial" panose="020B0604020202020204" pitchFamily="34" charset="0"/>
              <a:buChar char="•"/>
            </a:pPr>
            <a:r>
              <a:rPr lang="en-IN" dirty="0"/>
              <a:t>J. Ma, L. K. Saul, S. Savage and G. M. Voelker, “Beyond blacklists: Learning to detect malicious web sites from suspicious URLs,” Proc. 15th ACM SIGKDD, pp. 1245–1254, 2009.</a:t>
            </a:r>
          </a:p>
          <a:p>
            <a:pPr marL="285750" indent="-285750">
              <a:buFont typeface="Arial" panose="020B0604020202020204" pitchFamily="34" charset="0"/>
              <a:buChar char="•"/>
            </a:pPr>
            <a:r>
              <a:rPr lang="en-IN" dirty="0"/>
              <a:t> Y. Zhang, J. Hong and L. Cranor, “CANTINA+: A feature-rich machine learning framework for detecting phishing web sites,” ACM Trans. Inf. Syst. </a:t>
            </a:r>
            <a:r>
              <a:rPr lang="en-IN" dirty="0" err="1"/>
              <a:t>Secur</a:t>
            </a:r>
            <a:r>
              <a:rPr lang="en-IN" dirty="0"/>
              <a:t>., vol. 14, no. 2, pp. 1–28, 2011.</a:t>
            </a:r>
          </a:p>
          <a:p>
            <a:pPr marL="285750" indent="-285750">
              <a:buFont typeface="Arial" panose="020B0604020202020204" pitchFamily="34" charset="0"/>
              <a:buChar char="•"/>
            </a:pPr>
            <a:r>
              <a:rPr lang="en-IN" dirty="0"/>
              <a:t> O. K. </a:t>
            </a:r>
            <a:r>
              <a:rPr lang="en-IN" dirty="0" err="1"/>
              <a:t>Sahingoz</a:t>
            </a:r>
            <a:r>
              <a:rPr lang="en-IN" dirty="0"/>
              <a:t> et al., “Machine learning based phishing detection from URLs,” Expert Syst. Appl., vol. 117, pp. 345–357, 2019.</a:t>
            </a:r>
          </a:p>
          <a:p>
            <a:pPr marL="285750" indent="-285750">
              <a:buFont typeface="Arial" panose="020B0604020202020204" pitchFamily="34" charset="0"/>
              <a:buChar char="•"/>
            </a:pPr>
            <a:r>
              <a:rPr lang="en-IN" dirty="0"/>
              <a:t>R. Verma and A. Das, “What’s in a URL: Fast feature extraction and malicious URL detection,” Proc. IEEE CNS, pp. 55–63, 2017.</a:t>
            </a:r>
          </a:p>
          <a:p>
            <a:pPr marL="285750" indent="-285750">
              <a:buFont typeface="Arial" panose="020B0604020202020204" pitchFamily="34" charset="0"/>
              <a:buChar char="•"/>
            </a:pPr>
            <a:r>
              <a:rPr lang="en-IN" dirty="0"/>
              <a:t>R. S. Rao and A. R. Pais, “Detecting phishing websites using lexical features,” Int. J. Inf. </a:t>
            </a:r>
            <a:r>
              <a:rPr lang="en-IN" dirty="0" err="1"/>
              <a:t>Secur</a:t>
            </a:r>
            <a:r>
              <a:rPr lang="en-IN" dirty="0"/>
              <a:t>., vol. 18, no. 6, pp. 1–15, 2019.</a:t>
            </a:r>
          </a:p>
          <a:p>
            <a:pPr marL="285750" indent="-285750">
              <a:buFont typeface="Arial" panose="020B0604020202020204" pitchFamily="34" charset="0"/>
              <a:buChar char="•"/>
            </a:pPr>
            <a:r>
              <a:rPr lang="en-IN" dirty="0"/>
              <a:t> A. C. Bahnsen, D. </a:t>
            </a:r>
            <a:r>
              <a:rPr lang="en-IN" dirty="0" err="1"/>
              <a:t>Aouada</a:t>
            </a:r>
            <a:r>
              <a:rPr lang="en-IN" dirty="0"/>
              <a:t> and B. </a:t>
            </a:r>
            <a:r>
              <a:rPr lang="en-IN" dirty="0" err="1"/>
              <a:t>Ottersten</a:t>
            </a:r>
            <a:r>
              <a:rPr lang="en-IN" dirty="0"/>
              <a:t>, “Cost-sensitive decision trees for fraud detection,” Expert Syst. Appl., vol. 42, no. 2, pp. 660–671, 2017.</a:t>
            </a:r>
          </a:p>
          <a:p>
            <a:pPr marL="285750" indent="-285750">
              <a:buFont typeface="Arial" panose="020B0604020202020204" pitchFamily="34" charset="0"/>
              <a:buChar char="•"/>
            </a:pPr>
            <a:r>
              <a:rPr lang="en-IN" dirty="0"/>
              <a:t> A. Le, A. Markopoulou and M. </a:t>
            </a:r>
            <a:r>
              <a:rPr lang="en-IN" dirty="0" err="1"/>
              <a:t>Faloutsos</a:t>
            </a:r>
            <a:r>
              <a:rPr lang="en-IN" dirty="0"/>
              <a:t>, “Phishing detection using deep learning,” Future Gener. </a:t>
            </a:r>
            <a:r>
              <a:rPr lang="en-IN" dirty="0" err="1"/>
              <a:t>Comput</a:t>
            </a:r>
            <a:r>
              <a:rPr lang="en-IN" dirty="0"/>
              <a:t>. Syst., vol. 83, pp. 63–73, 2018.</a:t>
            </a:r>
          </a:p>
          <a:p>
            <a:pPr marL="285750" indent="-285750">
              <a:buFont typeface="Arial" panose="020B0604020202020204" pitchFamily="34" charset="0"/>
              <a:buChar char="•"/>
            </a:pPr>
            <a:r>
              <a:rPr lang="en-IN" dirty="0"/>
              <a:t>M. </a:t>
            </a:r>
            <a:r>
              <a:rPr lang="en-IN" dirty="0" err="1"/>
              <a:t>Aburrous</a:t>
            </a:r>
            <a:r>
              <a:rPr lang="en-IN" dirty="0"/>
              <a:t>, M. Hossain, K. Dahal and F. </a:t>
            </a:r>
            <a:r>
              <a:rPr lang="en-IN" dirty="0" err="1"/>
              <a:t>Thabtah</a:t>
            </a:r>
            <a:r>
              <a:rPr lang="en-IN" dirty="0"/>
              <a:t>, “Phishing detection using fuzzy classification,” Proc. IEEE ICT, pp. 1–6, 2010.</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925822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1DB0D0-C7C2-7FF0-12A3-A12681EFD2E8}"/>
              </a:ext>
            </a:extLst>
          </p:cNvPr>
          <p:cNvSpPr txBox="1"/>
          <p:nvPr/>
        </p:nvSpPr>
        <p:spPr>
          <a:xfrm>
            <a:off x="429208" y="410547"/>
            <a:ext cx="11290041" cy="3139321"/>
          </a:xfrm>
          <a:prstGeom prst="rect">
            <a:avLst/>
          </a:prstGeom>
          <a:noFill/>
        </p:spPr>
        <p:txBody>
          <a:bodyPr wrap="square" rtlCol="0">
            <a:spAutoFit/>
          </a:bodyPr>
          <a:lstStyle/>
          <a:p>
            <a:pPr marL="285750" indent="-285750">
              <a:buFont typeface="Arial" panose="020B0604020202020204" pitchFamily="34" charset="0"/>
              <a:buChar char="•"/>
            </a:pPr>
            <a:r>
              <a:rPr lang="en-IN" dirty="0"/>
              <a:t> R. Basnet, S. Mukkamala and A. Sung, “Detection of phishing attacks: A machine learning approach,” Proc. IEEE ICNCIS, pp. 1–6, 2014.</a:t>
            </a:r>
          </a:p>
          <a:p>
            <a:pPr marL="285750" indent="-285750">
              <a:buFont typeface="Arial" panose="020B0604020202020204" pitchFamily="34" charset="0"/>
              <a:buChar char="•"/>
            </a:pPr>
            <a:r>
              <a:rPr lang="en-IN" dirty="0"/>
              <a:t> [10] R. Mohammad et al., “Phishing website detection using machine learning,” Data Mining Workshop, pp. 1–6, 2014. </a:t>
            </a:r>
          </a:p>
          <a:p>
            <a:pPr marL="342900" indent="-342900">
              <a:buFont typeface="Arial" panose="020B0604020202020204" pitchFamily="34" charset="0"/>
              <a:buChar char="•"/>
            </a:pPr>
            <a:r>
              <a:rPr lang="en-IN" dirty="0"/>
              <a:t>K. Jain and B. B. Gupta, “Phishing detection using URL-based features,” Int. J. </a:t>
            </a:r>
            <a:r>
              <a:rPr lang="en-IN" dirty="0" err="1"/>
              <a:t>Comput</a:t>
            </a:r>
            <a:r>
              <a:rPr lang="en-IN" dirty="0"/>
              <a:t>. </a:t>
            </a:r>
            <a:r>
              <a:rPr lang="en-IN" dirty="0" err="1"/>
              <a:t>Netw</a:t>
            </a:r>
            <a:r>
              <a:rPr lang="en-IN" dirty="0"/>
              <a:t>. Inf. </a:t>
            </a:r>
            <a:r>
              <a:rPr lang="en-IN" dirty="0" err="1"/>
              <a:t>Secur</a:t>
            </a:r>
            <a:r>
              <a:rPr lang="en-IN" dirty="0"/>
              <a:t>., vol. 8, no. 7, pp. 1–10, 2016. </a:t>
            </a:r>
          </a:p>
          <a:p>
            <a:pPr marL="342900" indent="-342900">
              <a:buFont typeface="Arial" panose="020B0604020202020204" pitchFamily="34" charset="0"/>
              <a:buChar char="•"/>
            </a:pPr>
            <a:r>
              <a:rPr lang="en-IN" dirty="0"/>
              <a:t>[12] K. L. Chiew et al., “A survey of phishing attack detection approaches,” J. </a:t>
            </a:r>
            <a:r>
              <a:rPr lang="en-IN" dirty="0" err="1"/>
              <a:t>Netw</a:t>
            </a:r>
            <a:r>
              <a:rPr lang="en-IN" dirty="0"/>
              <a:t>. </a:t>
            </a:r>
            <a:r>
              <a:rPr lang="en-IN" dirty="0" err="1"/>
              <a:t>Comput</a:t>
            </a:r>
            <a:r>
              <a:rPr lang="en-IN" dirty="0"/>
              <a:t>. Appl., vol. 106, pp. 1–16, 2018. </a:t>
            </a:r>
          </a:p>
          <a:p>
            <a:pPr marL="342900" indent="-342900">
              <a:buFont typeface="Arial" panose="020B0604020202020204" pitchFamily="34" charset="0"/>
              <a:buChar char="•"/>
            </a:pPr>
            <a:r>
              <a:rPr lang="en-IN" dirty="0"/>
              <a:t>[13] C. Whittaker, B. Ryner and M. Nazif, “Large-scale automatic classification of phishing pages,” Proc. NDSS, 2010. [14] </a:t>
            </a:r>
            <a:r>
              <a:rPr lang="en-IN" dirty="0" err="1"/>
              <a:t>PhishTank</a:t>
            </a:r>
            <a:r>
              <a:rPr lang="en-IN" dirty="0"/>
              <a:t>, “</a:t>
            </a:r>
            <a:r>
              <a:rPr lang="en-IN" dirty="0" err="1"/>
              <a:t>PhishTank</a:t>
            </a:r>
            <a:r>
              <a:rPr lang="en-IN" dirty="0"/>
              <a:t> phishing database,” OpenDNS, 2016.</a:t>
            </a:r>
          </a:p>
          <a:p>
            <a:pPr marL="342900" indent="-342900">
              <a:buFont typeface="Arial" panose="020B0604020202020204" pitchFamily="34" charset="0"/>
              <a:buChar char="•"/>
            </a:pPr>
            <a:r>
              <a:rPr lang="en-IN" dirty="0"/>
              <a:t> [15] Google, “Google Safe Browsing API Documentation,” Google Security Blog, 2018</a:t>
            </a:r>
          </a:p>
        </p:txBody>
      </p:sp>
    </p:spTree>
    <p:extLst>
      <p:ext uri="{BB962C8B-B14F-4D97-AF65-F5344CB8AC3E}">
        <p14:creationId xmlns:p14="http://schemas.microsoft.com/office/powerpoint/2010/main" val="3959797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4D3810-DC1C-87AD-C86A-FB4587CB2667}"/>
              </a:ext>
            </a:extLst>
          </p:cNvPr>
          <p:cNvSpPr txBox="1"/>
          <p:nvPr/>
        </p:nvSpPr>
        <p:spPr>
          <a:xfrm>
            <a:off x="2694039" y="2290916"/>
            <a:ext cx="5850193" cy="1477328"/>
          </a:xfrm>
          <a:prstGeom prst="rect">
            <a:avLst/>
          </a:prstGeom>
          <a:noFill/>
        </p:spPr>
        <p:txBody>
          <a:bodyPr wrap="square" rtlCol="0">
            <a:spAutoFit/>
          </a:bodyPr>
          <a:lstStyle/>
          <a:p>
            <a:r>
              <a:rPr lang="en-IN" sz="9000" dirty="0"/>
              <a:t>Thank you</a:t>
            </a:r>
          </a:p>
        </p:txBody>
      </p:sp>
    </p:spTree>
    <p:extLst>
      <p:ext uri="{BB962C8B-B14F-4D97-AF65-F5344CB8AC3E}">
        <p14:creationId xmlns:p14="http://schemas.microsoft.com/office/powerpoint/2010/main" val="3108943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755</TotalTime>
  <Words>3041</Words>
  <Application>Microsoft Office PowerPoint</Application>
  <PresentationFormat>Widescreen</PresentationFormat>
  <Paragraphs>127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Phish Guard : Intelligent Phishing System</vt:lpstr>
      <vt:lpstr>CONTENT</vt:lpstr>
      <vt:lpstr>                        Abstract</vt:lpstr>
      <vt:lpstr>PowerPoint Presentation</vt:lpstr>
      <vt:lpstr>INTRODUCTION</vt:lpstr>
      <vt:lpstr>LITERATURE SURVEY</vt:lpstr>
      <vt:lpstr>PowerPoint Presentation</vt:lpstr>
      <vt:lpstr>PowerPoint Presentation</vt:lpstr>
      <vt:lpstr>PowerPoint Presentation</vt:lpstr>
      <vt:lpstr>PowerPoint Presentation</vt:lpstr>
      <vt:lpstr>Existing System </vt:lpstr>
      <vt:lpstr>Proposed System:</vt:lpstr>
      <vt:lpstr>SYSTEM  REQUIREMENT</vt:lpstr>
      <vt:lpstr>PowerPoint Presentation</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A M</dc:creator>
  <cp:lastModifiedBy>suneha upadya</cp:lastModifiedBy>
  <cp:revision>9</cp:revision>
  <dcterms:created xsi:type="dcterms:W3CDTF">2026-03-03T07:14:29Z</dcterms:created>
  <dcterms:modified xsi:type="dcterms:W3CDTF">2026-03-09T12:43:17Z</dcterms:modified>
</cp:coreProperties>
</file>